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66fd75f53f4f8c" /><Relationship Type="http://schemas.openxmlformats.org/officeDocument/2006/relationships/extended-properties" Target="/docProps/app.xml" Id="Ra3a536065c064eba" /><Relationship Type="http://schemas.openxmlformats.org/officeDocument/2006/relationships/officeDocument" Target="/ppt/presentation.xml" Id="R1dabfa34741743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df8ac35e974520"/>
  </p:sldMasterIdLst>
  <p:notesMasterIdLst>
    <p:notesMasterId xmlns:r="http://schemas.openxmlformats.org/officeDocument/2006/relationships" r:id="R0552d5e3609c439f"/>
  </p:notesMasterIdLst>
  <p:sldIdLst>
    <p:sldId xmlns:r="http://schemas.openxmlformats.org/officeDocument/2006/relationships" id="256" r:id="Rc8359e000331442c"/>
    <p:sldId xmlns:r="http://schemas.openxmlformats.org/officeDocument/2006/relationships" id="257" r:id="R339b098c306f45e3"/>
    <p:sldId xmlns:r="http://schemas.openxmlformats.org/officeDocument/2006/relationships" id="258" r:id="R0994f7051e2a4666"/>
    <p:sldId xmlns:r="http://schemas.openxmlformats.org/officeDocument/2006/relationships" id="259" r:id="R724e89e5fb8546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a65198d82e4320" /><Relationship Type="http://schemas.openxmlformats.org/officeDocument/2006/relationships/slideMaster" Target="/ppt/slideMasters/slideMaster1.xml" Id="Rf5df8ac35e974520" /><Relationship Type="http://schemas.openxmlformats.org/officeDocument/2006/relationships/notesMaster" Target="/ppt/notesMasters/notesMaster1.xml" Id="R0552d5e3609c439f" /><Relationship Type="http://schemas.openxmlformats.org/officeDocument/2006/relationships/presProps" Target="/ppt/presProps.xml" Id="Re3692c250d9d4762" /><Relationship Type="http://schemas.openxmlformats.org/officeDocument/2006/relationships/tableStyles" Target="/ppt/tableStyles.xml" Id="Rb04ea8b083c344ae" /><Relationship Type="http://schemas.openxmlformats.org/officeDocument/2006/relationships/slide" Target="/ppt/slides/slide1.xml" Id="Rc8359e000331442c" /><Relationship Type="http://schemas.openxmlformats.org/officeDocument/2006/relationships/slide" Target="/ppt/slides/slide2.xml" Id="R339b098c306f45e3" /><Relationship Type="http://schemas.openxmlformats.org/officeDocument/2006/relationships/slide" Target="/ppt/slides/slide3.xml" Id="R0994f7051e2a4666" /><Relationship Type="http://schemas.openxmlformats.org/officeDocument/2006/relationships/slide" Target="/ppt/slides/slide4.xml" Id="R724e89e5fb8546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a504e7729e46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d0c09348244d8b" /><Relationship Type="http://schemas.openxmlformats.org/officeDocument/2006/relationships/notesMaster" Target="/ppt/notesMasters/notesMaster1.xml" Id="Re4a08645e1fa43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bc3e6b00b344ad" /><Relationship Type="http://schemas.openxmlformats.org/officeDocument/2006/relationships/notesMaster" Target="/ppt/notesMasters/notesMaster1.xml" Id="Rec6b573170e646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4d65b1ac804d25" /><Relationship Type="http://schemas.openxmlformats.org/officeDocument/2006/relationships/notesMaster" Target="/ppt/notesMasters/notesMaster1.xml" Id="Rd324bbf7ea714d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f2d53a95c449c0" /><Relationship Type="http://schemas.openxmlformats.org/officeDocument/2006/relationships/notesMaster" Target="/ppt/notesMasters/notesMaster1.xml" Id="R2aae6af7ec334d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标准参考答案第1页。宽屏16:9；标题32pt，标签20pt，正文20pt，图注14pt。绿色表示图像预测主线，棕色表示训练支路。类别分数为logits，交叉熵直接接受logits。模型参数的更新只发生在训练阶段。图为方法关系示意，没有声称具体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标准参考答案第2页。数值由配套classification_predictions.csv计算：真实猫6条，其中5猫1狗；真实狗6条，其中1猫5狗；准确率10/12=83.3%。预测记录为人工构造的教学示例，不是模型实测。图片保持原始宽高比。图片来源：https://www.robots.ox.ac.uk/~vgg/data/pets/ 。自己的代码实践项目应替换为真实测试结果。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字体与字号：标题 32 pt，框内标签20 pt，图注14 pt。采用微软雅黑，同层级保持一致。</a:t>
            </a:r>
          </a:p>
          <a:p xmlns:a="http://schemas.openxmlformats.org/drawingml/2006/main">
            <a:r>
              <a:t>对齐与间距：主流程各框顶边一致，高度相同。边距 60 px，先固定两端，再横向分布中间对象。</a:t>
            </a:r>
          </a:p>
          <a:p xmlns:a="http://schemas.openxmlformats.org/drawingml/2006/main">
            <a:r>
              <a:t>连接符：箭头附着在形状连接点。类别分数和真实标签共同指向损失，更新参数的箭头返回网络。</a:t>
            </a:r>
          </a:p>
          <a:p xmlns:a="http://schemas.openxmlformats.org/drawingml/2006/main">
            <a:r>
              <a:t>文本组织：框内用“分类网络”等对象名称。图外一句话解释训练与预测的区别，不把长段落塞进框。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比较对象：混淆矩阵的行表示真实类别，列表示预测类别。标题、行列标签和数字均可编辑。</a:t>
            </a:r>
          </a:p>
          <a:p xmlns:a="http://schemas.openxmlformats.org/drawingml/2006/main">
            <a:r>
              <a:t>图片比例：使用原图的 3:2 比例，在图片格式中锁定纵横比；不拉伸照片来填满版面。</a:t>
            </a:r>
          </a:p>
          <a:p xmlns:a="http://schemas.openxmlformats.org/drawingml/2006/main">
            <a:r>
              <a:t>数值与结论：12 条示例中正确 10 条，准确率 83.3%。文字只说明这组记录，不推断模型已具备泛化能力。</a:t>
            </a:r>
          </a:p>
          <a:p xmlns:a="http://schemas.openxmlformats.org/drawingml/2006/main">
            <a:r>
              <a:t>提交时替换：实际项目用自己的预测表重算数字，并放入对应样例。保留数据来源、样本数量和图注。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5cf364ced741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9b54636d124541" /><Relationship Type="http://schemas.openxmlformats.org/officeDocument/2006/relationships/slideLayout" Target="/ppt/slideLayouts/slideLayout1.xml" Id="Rfe1a0d505f944c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1a0d505f944c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708aa435e4d64" /><Relationship Type="http://schemas.openxmlformats.org/officeDocument/2006/relationships/notesSlide" Target="/ppt/notesSlides/notesSlide1.xml" Id="R2f8010f881c44c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a6b2cc78d4767" /><Relationship Type="http://schemas.openxmlformats.org/officeDocument/2006/relationships/image" Target="/ppt/media/image.jpeg" Id="R86ee04414e874407" /><Relationship Type="http://schemas.openxmlformats.org/officeDocument/2006/relationships/notesSlide" Target="/ppt/notesSlides/notesSlide2.xml" Id="R998a69cc404341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00e5c6cfd4552" /><Relationship Type="http://schemas.openxmlformats.org/officeDocument/2006/relationships/notesSlide" Target="/ppt/notesSlides/notesSlide3.xml" Id="R508351ed7d9b46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8f8a5b1cb49dd" /><Relationship Type="http://schemas.openxmlformats.org/officeDocument/2006/relationships/notesSlide" Target="/ppt/notesSlides/notesSlide4.xml" Id="R151320bab24f43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29BFD5-DABB-4611-8305-BE4CB3E8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83B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183B29"/>
                </a:solidFill>
                <a:latin typeface="Microsoft YaHei"/>
                <a:ea typeface="Microsoft YaHei"/>
                <a:cs typeface="Microsoft YaHei"/>
              </a:rPr>
              <a:t>猫狗识别的训练与预测流程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294C1-81CE-4AEB-B59F-2CE0E4AA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526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52695C"/>
                </a:solidFill>
                <a:latin typeface="Microsoft YaHei"/>
                <a:ea typeface="Microsoft YaHei"/>
                <a:cs typeface="Microsoft YaHei"/>
              </a:rPr>
              <a:t>图像输入与类别预测</a:t>
            </a:r>
          </a:p>
        </p:txBody>
      </p:sp>
      <p:sp>
        <p:nvSpPr>
          <p:cNvPr id="3" name="RGB 图像">
            <a:extLst xmlns:a="http://schemas.openxmlformats.org/drawingml/2006/main">
              <a:ext uri="{FF2B5EF4-FFF2-40B4-BE49-F238E27FC236}">
                <a16:creationId xmlns:a16="http://schemas.microsoft.com/office/drawing/2014/main" id="{76825302-B6BC-499A-9852-4FA7C8C3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1571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FF5EF"/>
          </a:solidFill>
          <a:ln xmlns:a="http://schemas.openxmlformats.org/drawingml/2006/main" w="14288">
            <a:solidFill>
              <a:srgbClr val="89A18B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rPr>
              <a:t>RGB 图像</a:t>
            </a:r>
          </a:p>
        </p:txBody>
      </p:sp>
      <p:sp>
        <p:nvSpPr>
          <p:cNvPr id="4" name="缩放与归一化">
            <a:extLst xmlns:a="http://schemas.openxmlformats.org/drawingml/2006/main">
              <a:ext uri="{FF2B5EF4-FFF2-40B4-BE49-F238E27FC236}">
                <a16:creationId xmlns:a16="http://schemas.microsoft.com/office/drawing/2014/main" id="{F3AC2C5B-CE51-45CF-9090-6E744BC4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143125"/>
            <a:ext cx="1905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FF5EF"/>
          </a:solidFill>
          <a:ln xmlns:a="http://schemas.openxmlformats.org/drawingml/2006/main" w="14288">
            <a:solidFill>
              <a:srgbClr val="89A18B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rPr>
              <a:t>缩放与归一化</a:t>
            </a:r>
          </a:p>
        </p:txBody>
      </p:sp>
      <p:sp>
        <p:nvSpPr>
          <p:cNvPr id="5" name="分类网络">
            <a:extLst xmlns:a="http://schemas.openxmlformats.org/drawingml/2006/main">
              <a:ext uri="{FF2B5EF4-FFF2-40B4-BE49-F238E27FC236}">
                <a16:creationId xmlns:a16="http://schemas.microsoft.com/office/drawing/2014/main" id="{52FA8268-1714-482F-AACD-D06EA04C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43125"/>
            <a:ext cx="1762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FF5EF"/>
          </a:solidFill>
          <a:ln xmlns:a="http://schemas.openxmlformats.org/drawingml/2006/main" w="14288">
            <a:solidFill>
              <a:srgbClr val="89A18B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rPr>
              <a:t>分类网络</a:t>
            </a:r>
          </a:p>
        </p:txBody>
      </p:sp>
      <p:sp>
        <p:nvSpPr>
          <p:cNvPr id="6" name="猫 / 狗分数">
            <a:extLst xmlns:a="http://schemas.openxmlformats.org/drawingml/2006/main">
              <a:ext uri="{FF2B5EF4-FFF2-40B4-BE49-F238E27FC236}">
                <a16:creationId xmlns:a16="http://schemas.microsoft.com/office/drawing/2014/main" id="{890FA075-1A7C-4F65-83E3-B7DC8EA6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43125"/>
            <a:ext cx="1762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FF5EF"/>
          </a:solidFill>
          <a:ln xmlns:a="http://schemas.openxmlformats.org/drawingml/2006/main" w="14288">
            <a:solidFill>
              <a:srgbClr val="89A18B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rPr>
              <a:t>猫 / 狗分数</a:t>
            </a:r>
          </a:p>
        </p:txBody>
      </p:sp>
      <p:sp>
        <p:nvSpPr>
          <p:cNvPr id="7" name="预测类别">
            <a:extLst xmlns:a="http://schemas.openxmlformats.org/drawingml/2006/main">
              <a:ext uri="{FF2B5EF4-FFF2-40B4-BE49-F238E27FC236}">
                <a16:creationId xmlns:a16="http://schemas.microsoft.com/office/drawing/2014/main" id="{900F0E9C-6E9B-4D36-82CF-FAC525DE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43125"/>
            <a:ext cx="1905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FF5EF"/>
          </a:solidFill>
          <a:ln xmlns:a="http://schemas.openxmlformats.org/drawingml/2006/main" w="14288">
            <a:solidFill>
              <a:srgbClr val="89A18B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rPr>
              <a:t>预测类别</a:t>
            </a:r>
          </a:p>
        </p:txBody>
      </p:sp>
      <p:cxnSp>
        <p:nvCxnSpPr>
          <p:cNvPr id="29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143125" y="25812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765B"/>
            </a:solidFill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524375" y="25812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765B"/>
            </a:solidFill>
            <a:tailEnd type="arrow" w="med" len="med"/>
          </a:ln>
        </p:spPr>
      </p:cxn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810375" y="25812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765B"/>
            </a:solidFill>
            <a:tailEnd type="arrow" w="med" len="med"/>
          </a:ln>
        </p:spPr>
      </p:cxn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096375" y="25812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765B"/>
            </a:solidFill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74FB7-2E54-490D-B0E9-CD0147D1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8B65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8B653C"/>
                </a:solidFill>
                <a:latin typeface="Microsoft YaHei"/>
                <a:ea typeface="Microsoft YaHei"/>
                <a:cs typeface="Microsoft YaHei"/>
              </a:rPr>
              <a:t>仅训练时使用</a:t>
            </a:r>
          </a:p>
        </p:txBody>
      </p:sp>
      <p:sp>
        <p:nvSpPr>
          <p:cNvPr id="13" name="更新参数">
            <a:extLst xmlns:a="http://schemas.openxmlformats.org/drawingml/2006/main">
              <a:ext uri="{FF2B5EF4-FFF2-40B4-BE49-F238E27FC236}">
                <a16:creationId xmlns:a16="http://schemas.microsoft.com/office/drawing/2014/main" id="{086B3441-E420-4272-B0B7-6004B93A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71950"/>
            <a:ext cx="1762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FF5EF"/>
          </a:solidFill>
          <a:ln xmlns:a="http://schemas.openxmlformats.org/drawingml/2006/main" w="14288">
            <a:solidFill>
              <a:srgbClr val="89A18B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rPr>
              <a:t>更新参数</a:t>
            </a:r>
          </a:p>
        </p:txBody>
      </p:sp>
      <p:sp>
        <p:nvSpPr>
          <p:cNvPr id="14" name="交叉熵损失">
            <a:extLst xmlns:a="http://schemas.openxmlformats.org/drawingml/2006/main">
              <a:ext uri="{FF2B5EF4-FFF2-40B4-BE49-F238E27FC236}">
                <a16:creationId xmlns:a16="http://schemas.microsoft.com/office/drawing/2014/main" id="{0EED54EE-2129-4302-A360-F8A6DDDB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71950"/>
            <a:ext cx="1762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FF5EF"/>
          </a:solidFill>
          <a:ln xmlns:a="http://schemas.openxmlformats.org/drawingml/2006/main" w="14288">
            <a:solidFill>
              <a:srgbClr val="89A18B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rPr>
              <a:t>交叉熵损失</a:t>
            </a:r>
          </a:p>
        </p:txBody>
      </p:sp>
      <p:sp>
        <p:nvSpPr>
          <p:cNvPr id="15" name="真实类别标签">
            <a:extLst xmlns:a="http://schemas.openxmlformats.org/drawingml/2006/main">
              <a:ext uri="{FF2B5EF4-FFF2-40B4-BE49-F238E27FC236}">
                <a16:creationId xmlns:a16="http://schemas.microsoft.com/office/drawing/2014/main" id="{A619CFC1-DE47-487C-ADB8-BB467983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71950"/>
            <a:ext cx="1905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FF5EF"/>
          </a:solidFill>
          <a:ln xmlns:a="http://schemas.openxmlformats.org/drawingml/2006/main" w="14288">
            <a:solidFill>
              <a:srgbClr val="89A18B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00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rPr>
              <a:t>真实类别标签</a:t>
            </a:r>
          </a:p>
        </p:txBody>
      </p:sp>
      <p:cxnSp>
        <p:nvCxnSpPr>
          <p:cNvPr id="37" name=""/>
          <p:cNvCxnSpPr>
            <a:stCxn xmlns:a="http://schemas.openxmlformats.org/drawingml/2006/main" id="6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8215313" y="3019425"/>
            <a:ext cx="0" cy="1152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8451"/>
            </a:solidFill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15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9096375" y="46101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8451"/>
            </a:solidFill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14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6810375" y="46101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8451"/>
            </a:solidFill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13" idx="0"/>
            <a:endCxn xmlns:a="http://schemas.openxmlformats.org/drawingml/2006/main" id="5" idx="2"/>
          </p:cNvCxnSpPr>
          <p:nvPr/>
        </p:nvCxnSpPr>
        <p:spPr>
          <a:xfrm xmlns:a="http://schemas.openxmlformats.org/drawingml/2006/main" flipV="1">
            <a:off x="5929313" y="3019425"/>
            <a:ext cx="0" cy="1152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8451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728823-FC57-49D0-B1ED-D1DB52F1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263E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3E32"/>
                </a:solidFill>
                <a:latin typeface="Microsoft YaHei"/>
                <a:ea typeface="Microsoft YaHei"/>
                <a:cs typeface="Microsoft YaHei"/>
              </a:rPr>
              <a:t>预测新照片时，图像经过网络得到类别；标签参与训练中的损失计算。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96125B-AD89-44D4-8222-FAFC8395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6271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627169"/>
                </a:solidFill>
                <a:latin typeface="Microsoft YaHei"/>
                <a:ea typeface="Microsoft YaHei"/>
                <a:cs typeface="Microsoft YaHei"/>
              </a:rPr>
              <a:t>结构示意。图中模块对应可编辑形状，箭头使用附着在形状上的连接符。</a:t>
            </a:r>
          </a:p>
        </p:txBody>
      </p:sp>
    </p:spTree>
    <p:extLst>
      <p:ext uri="{BB962C8B-B14F-4D97-AF65-F5344CB8AC3E}">
        <p14:creationId xmlns:p14="http://schemas.microsoft.com/office/powerpoint/2010/main" val="13953558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B518E9-E573-427D-B42F-923E67A3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83B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183B29"/>
                </a:solidFill>
                <a:latin typeface="Microsoft YaHei"/>
                <a:ea typeface="Microsoft YaHei"/>
                <a:cs typeface="Microsoft YaHei"/>
              </a:rPr>
              <a:t>教学预测记录的分类结果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86E5A-BF6B-4E2B-A741-13CB3278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rPr>
              <a:t>12 条示例记录中，10 条分类正确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ee04414e874407"/>
          <a:stretch xmlns:a="http://schemas.openxmlformats.org/drawingml/2006/main"/>
        </p:blipFill>
        <p:spPr>
          <a:xfrm xmlns:a="http://schemas.openxmlformats.org/drawingml/2006/main">
            <a:off x="583406" y="2028825"/>
            <a:ext cx="4929188" cy="3286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7CFEF-F6DD-4558-A416-89663E72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6735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263E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3E32"/>
                </a:solidFill>
                <a:latin typeface="Microsoft YaHei"/>
                <a:ea typeface="Microsoft YaHei"/>
                <a:cs typeface="Microsoft YaHei"/>
              </a:rPr>
              <a:t>Oxford-IIIT Pet 猫图像样例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B2958-19A5-47BF-B2FE-15828B06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95975"/>
            <a:ext cx="5381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6173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617369"/>
                </a:solidFill>
                <a:latin typeface="Microsoft YaHei"/>
                <a:ea typeface="Microsoft YaHei"/>
                <a:cs typeface="Microsoft YaHei"/>
              </a:rPr>
              <a:t>照片用于展示数据对象，与右侧示例记录不绑定。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00C84-E111-448A-8EF0-3A4F27D6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764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263E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3E32"/>
                </a:solidFill>
                <a:latin typeface="Microsoft YaHei"/>
                <a:ea typeface="Microsoft YaHei"/>
                <a:cs typeface="Microsoft YaHei"/>
              </a:rPr>
              <a:t>预测猫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30684A-C0A4-4098-B31B-C32E8F6D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764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263E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3E32"/>
                </a:solidFill>
                <a:latin typeface="Microsoft YaHei"/>
                <a:ea typeface="Microsoft YaHei"/>
                <a:cs typeface="Microsoft YaHei"/>
              </a:rPr>
              <a:t>预测狗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6B456A-232D-47A5-963C-7242464C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03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263E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3E32"/>
                </a:solidFill>
                <a:latin typeface="Microsoft YaHei"/>
                <a:ea typeface="Microsoft YaHei"/>
                <a:cs typeface="Microsoft YaHei"/>
              </a:rPr>
              <a:t>真实猫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034175-3A12-4680-82A2-818D39BD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762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263E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3E32"/>
                </a:solidFill>
                <a:latin typeface="Microsoft YaHei"/>
                <a:ea typeface="Microsoft YaHei"/>
                <a:cs typeface="Microsoft YaHei"/>
              </a:rPr>
              <a:t>真实狗</a:t>
            </a:r>
          </a:p>
        </p:txBody>
      </p:sp>
      <p:sp>
        <p:nvSpPr>
          <p:cNvPr id="10" name="5">
            <a:extLst xmlns:a="http://schemas.openxmlformats.org/drawingml/2006/main">
              <a:ext uri="{FF2B5EF4-FFF2-40B4-BE49-F238E27FC236}">
                <a16:creationId xmlns:a16="http://schemas.microsoft.com/office/drawing/2014/main" id="{A2F727A1-2B0A-4C8A-B139-97A7638D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1524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DEBD9"/>
          </a:solidFill>
          <a:ln xmlns:a="http://schemas.openxmlformats.org/drawingml/2006/main" w="14288">
            <a:solidFill>
              <a:srgbClr val="89A18B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34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3452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1" name="1">
            <a:extLst xmlns:a="http://schemas.openxmlformats.org/drawingml/2006/main">
              <a:ext uri="{FF2B5EF4-FFF2-40B4-BE49-F238E27FC236}">
                <a16:creationId xmlns:a16="http://schemas.microsoft.com/office/drawing/2014/main" id="{12F22164-CCEA-4A96-A140-DC796787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571750"/>
            <a:ext cx="1524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5ECE0"/>
          </a:solidFill>
          <a:ln xmlns:a="http://schemas.openxmlformats.org/drawingml/2006/main" w="14288">
            <a:solidFill>
              <a:srgbClr val="89A18B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34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3452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2FB37D45-564B-415F-952E-AC086F26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38550"/>
            <a:ext cx="1524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5ECE0"/>
          </a:solidFill>
          <a:ln xmlns:a="http://schemas.openxmlformats.org/drawingml/2006/main" w="14288">
            <a:solidFill>
              <a:srgbClr val="89A18B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34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3452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5">
            <a:extLst xmlns:a="http://schemas.openxmlformats.org/drawingml/2006/main">
              <a:ext uri="{FF2B5EF4-FFF2-40B4-BE49-F238E27FC236}">
                <a16:creationId xmlns:a16="http://schemas.microsoft.com/office/drawing/2014/main" id="{D628EB6E-1413-4EDC-A61B-83BC68F6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638550"/>
            <a:ext cx="1524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DEBD9"/>
          </a:solidFill>
          <a:ln xmlns:a="http://schemas.openxmlformats.org/drawingml/2006/main" w="14288">
            <a:solidFill>
              <a:srgbClr val="89A18B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34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3452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693385-AE17-48A9-94F4-EFADBCD7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339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54534"/>
                </a:solidFill>
                <a:latin typeface="Microsoft YaHei"/>
                <a:ea typeface="Microsoft YaHei"/>
                <a:cs typeface="Microsoft YaHei"/>
              </a:rPr>
              <a:t>准确率  10 / 12 = 83.3%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679B62-E424-439F-B51D-4280CC04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530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263E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63E32"/>
                </a:solidFill>
                <a:latin typeface="Microsoft YaHei"/>
                <a:ea typeface="Microsoft YaHei"/>
                <a:cs typeface="Microsoft YaHei"/>
              </a:rPr>
              <a:t>猫、狗各 6 条记录，各有 1 条被误判。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98A065-8A53-4021-9223-75BFAFB1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6271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627169"/>
                </a:solidFill>
                <a:latin typeface="Microsoft YaHei"/>
                <a:ea typeface="Microsoft YaHei"/>
                <a:cs typeface="Microsoft YaHei"/>
              </a:rPr>
              <a:t>数字为给定教学示例，未训练模型。图片来源：Oxford-IIIT Pet。</a:t>
            </a:r>
          </a:p>
        </p:txBody>
      </p:sp>
    </p:spTree>
    <p:extLst>
      <p:ext uri="{BB962C8B-B14F-4D97-AF65-F5344CB8AC3E}">
        <p14:creationId xmlns:p14="http://schemas.microsoft.com/office/powerpoint/2010/main" val="10858342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44E714-F40E-414A-BFA4-5AB0950F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83B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183B29"/>
                </a:solidFill>
                <a:latin typeface="Microsoft YaHei"/>
                <a:ea typeface="Microsoft YaHei"/>
                <a:cs typeface="Microsoft YaHei"/>
              </a:rPr>
              <a:t>注释 1 流程图的格式与表达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A171A-1AFD-4C15-B706-99BA63CE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284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84C34"/>
                </a:solidFill>
                <a:latin typeface="Microsoft YaHei"/>
                <a:ea typeface="Microsoft YaHei"/>
                <a:cs typeface="Microsoft YaHei"/>
              </a:rPr>
              <a:t>字体与字号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8EE11B-393C-4BBD-BA3C-5EFCED00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447800"/>
            <a:ext cx="7620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448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34483C"/>
                </a:solidFill>
                <a:latin typeface="Microsoft YaHei"/>
                <a:ea typeface="Microsoft YaHei"/>
                <a:cs typeface="Microsoft YaHei"/>
              </a:rPr>
              <a:t>标题 32 pt，框内标签20 pt，图注14 pt。采用微软雅黑，同层级保持一致。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AD1F1-AEB1-4DE1-84B8-75C7BF67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284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84C34"/>
                </a:solidFill>
                <a:latin typeface="Microsoft YaHei"/>
                <a:ea typeface="Microsoft YaHei"/>
                <a:cs typeface="Microsoft YaHei"/>
              </a:rPr>
              <a:t>对齐与间距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678E1-F1E4-4671-8DE8-8F5989D7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38425"/>
            <a:ext cx="7620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448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34483C"/>
                </a:solidFill>
                <a:latin typeface="Microsoft YaHei"/>
                <a:ea typeface="Microsoft YaHei"/>
                <a:cs typeface="Microsoft YaHei"/>
              </a:rPr>
              <a:t>主流程各框顶边一致，高度相同。边距 60 px，先固定两端，再横向分布中间对象。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B605E-9C76-4475-85ED-A601CBC7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284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84C34"/>
                </a:solidFill>
                <a:latin typeface="Microsoft YaHei"/>
                <a:ea typeface="Microsoft YaHei"/>
                <a:cs typeface="Microsoft YaHei"/>
              </a:rPr>
              <a:t>连接符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C5D32-BDAB-45DC-BE01-6D250240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829050"/>
            <a:ext cx="7620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448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34483C"/>
                </a:solidFill>
                <a:latin typeface="Microsoft YaHei"/>
                <a:ea typeface="Microsoft YaHei"/>
                <a:cs typeface="Microsoft YaHei"/>
              </a:rPr>
              <a:t>箭头附着在形状连接点。类别分数和真实标签共同指向损失，更新参数的箭头返回网络。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162F1-3547-4FAE-9496-C9208D4F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96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284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84C34"/>
                </a:solidFill>
                <a:latin typeface="Microsoft YaHei"/>
                <a:ea typeface="Microsoft YaHei"/>
                <a:cs typeface="Microsoft YaHei"/>
              </a:rPr>
              <a:t>文本组织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8DA5EE-7E72-4BD3-BB9F-D1EC5C05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019675"/>
            <a:ext cx="7620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448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34483C"/>
                </a:solidFill>
                <a:latin typeface="Microsoft YaHei"/>
                <a:ea typeface="Microsoft YaHei"/>
                <a:cs typeface="Microsoft YaHei"/>
              </a:rPr>
              <a:t>框内用“分类网络”等对象名称。图外一句话解释训练与预测的区别，不把长段落塞进框。</a:t>
            </a:r>
          </a:p>
        </p:txBody>
      </p:sp>
    </p:spTree>
    <p:extLst>
      <p:ext uri="{BB962C8B-B14F-4D97-AF65-F5344CB8AC3E}">
        <p14:creationId xmlns:p14="http://schemas.microsoft.com/office/powerpoint/2010/main" val="3316106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9D3272-7B60-4F72-B5DA-318B92E4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83B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183B29"/>
                </a:solidFill>
                <a:latin typeface="Microsoft YaHei"/>
                <a:ea typeface="Microsoft YaHei"/>
                <a:cs typeface="Microsoft YaHei"/>
              </a:rPr>
              <a:t>注释 2 结果页的数据与排版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68945-99DE-474D-8144-413B9D74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284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84C34"/>
                </a:solidFill>
                <a:latin typeface="Microsoft YaHei"/>
                <a:ea typeface="Microsoft YaHei"/>
                <a:cs typeface="Microsoft YaHei"/>
              </a:rPr>
              <a:t>比较对象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A4A2F-2595-440B-BFA6-81125A77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447800"/>
            <a:ext cx="7620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448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34483C"/>
                </a:solidFill>
                <a:latin typeface="Microsoft YaHei"/>
                <a:ea typeface="Microsoft YaHei"/>
                <a:cs typeface="Microsoft YaHei"/>
              </a:rPr>
              <a:t>混淆矩阵的行表示真实类别，列表示预测类别。标题、行列标签和数字均可编辑。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43ADE-C638-4BF8-AF26-DC0CDD55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284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84C34"/>
                </a:solidFill>
                <a:latin typeface="Microsoft YaHei"/>
                <a:ea typeface="Microsoft YaHei"/>
                <a:cs typeface="Microsoft YaHei"/>
              </a:rPr>
              <a:t>图片比例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CCDEBE-67C4-4F69-8093-B88BA27D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38425"/>
            <a:ext cx="7620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448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34483C"/>
                </a:solidFill>
                <a:latin typeface="Microsoft YaHei"/>
                <a:ea typeface="Microsoft YaHei"/>
                <a:cs typeface="Microsoft YaHei"/>
              </a:rPr>
              <a:t>使用原图的 3:2 比例，在图片格式中锁定纵横比；不拉伸照片来填满版面。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810BD9-202E-48FC-A703-8272408B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284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84C34"/>
                </a:solidFill>
                <a:latin typeface="Microsoft YaHei"/>
                <a:ea typeface="Microsoft YaHei"/>
                <a:cs typeface="Microsoft YaHei"/>
              </a:rPr>
              <a:t>数值与结论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71810-FB1B-41AD-8FB0-86BB96F5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829050"/>
            <a:ext cx="7620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448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34483C"/>
                </a:solidFill>
                <a:latin typeface="Microsoft YaHei"/>
                <a:ea typeface="Microsoft YaHei"/>
                <a:cs typeface="Microsoft YaHei"/>
              </a:rPr>
              <a:t>12 条示例中正确 10 条，准确率 83.3%。文字只说明这组记录，不推断模型已具备泛化能力。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745FDC-A733-4B0F-A829-D248BE3C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96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284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284C34"/>
                </a:solidFill>
                <a:latin typeface="Microsoft YaHei"/>
                <a:ea typeface="Microsoft YaHei"/>
                <a:cs typeface="Microsoft YaHei"/>
              </a:rPr>
              <a:t>提交时替换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AFEEBE-50B9-4AD9-893D-D47EBF60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019675"/>
            <a:ext cx="7620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3448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34483C"/>
                </a:solidFill>
                <a:latin typeface="Microsoft YaHei"/>
                <a:ea typeface="Microsoft YaHei"/>
                <a:cs typeface="Microsoft YaHei"/>
              </a:rPr>
              <a:t>实际项目用自己的预测表重算数字，并放入对应样例。保留数据来源、样本数量和图注。</a:t>
            </a:r>
          </a:p>
        </p:txBody>
      </p:sp>
    </p:spTree>
    <p:extLst>
      <p:ext uri="{BB962C8B-B14F-4D97-AF65-F5344CB8AC3E}">
        <p14:creationId xmlns:p14="http://schemas.microsoft.com/office/powerpoint/2010/main" val="8091521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2026-10-01T10:58:02.6720000Z</dcterms:created>
  <dcterms:modified xsi:type="dcterms:W3CDTF">2026-10-01T10:58:02.6720000Z</dcterms:modified>
</coreProperties>
</file>